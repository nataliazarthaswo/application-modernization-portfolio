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6" Type="http://schemas.openxmlformats.org/officeDocument/2006/relationships/viewProps" Target="viewProps.xml" /><Relationship Id="rId5" Type="http://schemas.openxmlformats.org/officeDocument/2006/relationships/presProps" Target="presProps.xml" /><Relationship Id="rId1" Type="http://schemas.openxmlformats.org/officeDocument/2006/relationships/slideMaster" Target="slideMasters/slideMaster1.xml" /><Relationship Id="rId8" Type="http://schemas.openxmlformats.org/officeDocument/2006/relationships/tableStyles" Target="tableStyles.xml" /><Relationship Id="rId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AIPAM Rapid Assessment Framework</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0" marL="0">
              <a:buNone/>
            </a:pPr>
            <a:r>
              <a:rPr/>
              <a:t>The AIPAM Rapid Assessment Framework is designed to facilitate the efficient integration of AI technologies within organizations by assessing their readiness and potential for AI applications. This framework includes three key phases that guide organizations through the alignment of strategies and the discovery of opportunities</a:t>
            </a:r>
          </a:p>
          <a:p>
            <a:pPr lvl="0" indent="0" marL="0">
              <a:spcBef>
                <a:spcPts val="3000"/>
              </a:spcBef>
              <a:buNone/>
            </a:pPr>
            <a:r>
              <a:rPr b="1"/>
              <a:t>Phase 1: Strategic Alignment Workshop</a:t>
            </a:r>
          </a:p>
          <a:p>
            <a:pPr lvl="0"/>
            <a:r>
              <a:rPr b="1"/>
              <a:t>Structure</a:t>
            </a:r>
            <a:r>
              <a:rPr/>
              <a:t>: This phase consists of a full-day workshop with stakeholders from various departments.</a:t>
            </a:r>
          </a:p>
          <a:p>
            <a:pPr lvl="0"/>
            <a:r>
              <a:rPr b="1"/>
              <a:t>Objectives</a:t>
            </a:r>
            <a:r>
              <a:rPr/>
              <a:t>:</a:t>
            </a:r>
          </a:p>
          <a:p>
            <a:pPr lvl="1"/>
            <a:r>
              <a:rPr/>
              <a:t>Align organizational objectives with AI capabilities.</a:t>
            </a:r>
          </a:p>
          <a:p>
            <a:pPr lvl="1"/>
            <a:r>
              <a:rPr/>
              <a:t>Identify key stakeholders and champions of AI integration.</a:t>
            </a:r>
          </a:p>
          <a:p>
            <a:pPr lvl="1"/>
            <a:r>
              <a:rPr/>
              <a:t>Establish a clear vision for AI’s role in the organization.</a:t>
            </a:r>
          </a:p>
          <a:p>
            <a:pPr lvl="0"/>
            <a:r>
              <a:rPr b="1"/>
              <a:t>Activities</a:t>
            </a:r>
            <a:r>
              <a:rPr/>
              <a:t>:</a:t>
            </a:r>
          </a:p>
          <a:p>
            <a:pPr lvl="1"/>
            <a:r>
              <a:rPr/>
              <a:t>Present current market trends and AI capabilities.</a:t>
            </a:r>
          </a:p>
          <a:p>
            <a:pPr lvl="1"/>
            <a:r>
              <a:rPr/>
              <a:t>Conduct brainstorming sessions to identify potential AI applications.</a:t>
            </a:r>
          </a:p>
          <a:p>
            <a:pPr lvl="1"/>
            <a:r>
              <a:rPr/>
              <a:t>Create a roadmap for AI integration aligned with business goals.</a:t>
            </a:r>
          </a:p>
          <a:p>
            <a:pPr lvl="0" indent="0" marL="0">
              <a:spcBef>
                <a:spcPts val="3000"/>
              </a:spcBef>
              <a:buNone/>
            </a:pPr>
            <a:r>
              <a:rPr b="1"/>
              <a:t>Phase 2: AI-Powered Application Discovery</a:t>
            </a:r>
          </a:p>
          <a:p>
            <a:pPr lvl="0"/>
            <a:r>
              <a:rPr b="1"/>
              <a:t>Structure</a:t>
            </a:r>
            <a:r>
              <a:rPr/>
              <a:t>: This phase involves a series of collaborative sessions with business units.</a:t>
            </a:r>
          </a:p>
          <a:p>
            <a:pPr lvl="0"/>
            <a:r>
              <a:rPr b="1"/>
              <a:t>Objectives</a:t>
            </a:r>
            <a:r>
              <a:rPr/>
              <a:t>:</a:t>
            </a:r>
          </a:p>
          <a:p>
            <a:pPr lvl="1"/>
            <a:r>
              <a:rPr/>
              <a:t>Identify specific use cases where AI can bring the most value.</a:t>
            </a:r>
          </a:p>
          <a:p>
            <a:pPr lvl="1"/>
            <a:r>
              <a:rPr/>
              <a:t>Assess the feasibility of implementing AI solutions in the identified areas.</a:t>
            </a:r>
          </a:p>
          <a:p>
            <a:pPr lvl="0"/>
            <a:r>
              <a:rPr b="1"/>
              <a:t>Activities</a:t>
            </a:r>
            <a:r>
              <a:rPr/>
              <a:t>:</a:t>
            </a:r>
          </a:p>
          <a:p>
            <a:pPr lvl="1"/>
            <a:r>
              <a:rPr/>
              <a:t>Develop use case templates to capture necessary information.</a:t>
            </a:r>
          </a:p>
          <a:p>
            <a:pPr lvl="1"/>
            <a:r>
              <a:rPr/>
              <a:t>Conduct feasibility studies for shortlisted AI applications.</a:t>
            </a:r>
          </a:p>
          <a:p>
            <a:pPr lvl="0" indent="0" marL="0">
              <a:spcBef>
                <a:spcPts val="3000"/>
              </a:spcBef>
              <a:buNone/>
            </a:pPr>
            <a:r>
              <a:rPr b="1"/>
              <a:t>Phase 3: AI-Powered Database Discovery</a:t>
            </a:r>
          </a:p>
          <a:p>
            <a:pPr lvl="0"/>
            <a:r>
              <a:rPr b="1"/>
              <a:t>Structure</a:t>
            </a:r>
            <a:r>
              <a:rPr/>
              <a:t>: In this phase, a technical audit of existing databases is performed to evaluate compatibility with AI tools.</a:t>
            </a:r>
          </a:p>
          <a:p>
            <a:pPr lvl="0"/>
            <a:r>
              <a:rPr b="1"/>
              <a:t>Objectives</a:t>
            </a:r>
            <a:r>
              <a:rPr/>
              <a:t>:</a:t>
            </a:r>
          </a:p>
          <a:p>
            <a:pPr lvl="1"/>
            <a:r>
              <a:rPr/>
              <a:t>Determine the quality and usability of existing data.</a:t>
            </a:r>
          </a:p>
          <a:p>
            <a:pPr lvl="1"/>
            <a:r>
              <a:rPr/>
              <a:t>Identify data gaps and necessary enhancements.</a:t>
            </a:r>
          </a:p>
          <a:p>
            <a:pPr lvl="0"/>
            <a:r>
              <a:rPr b="1"/>
              <a:t>Activities</a:t>
            </a:r>
            <a:r>
              <a:rPr/>
              <a:t>:</a:t>
            </a:r>
          </a:p>
          <a:p>
            <a:pPr lvl="1"/>
            <a:r>
              <a:rPr/>
              <a:t>Assess current databases and data management practices.</a:t>
            </a:r>
          </a:p>
          <a:p>
            <a:pPr lvl="1"/>
            <a:r>
              <a:rPr/>
              <a:t>Create a plan to enhance data quality for AI readiness.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Bilingual Content</a:t>
            </a:r>
          </a:p>
        </p:txBody>
      </p:sp>
      <p:sp>
        <p:nvSpPr>
          <p:cNvPr id="3" name="Content Placeholder 2"/>
          <p:cNvSpPr>
            <a:spLocks noGrp="1"/>
          </p:cNvSpPr>
          <p:nvPr>
            <p:ph idx="1"/>
          </p:nvPr>
        </p:nvSpPr>
        <p:spPr/>
        <p:txBody>
          <a:bodyPr/>
          <a:lstStyle/>
          <a:p>
            <a:pPr lvl="0" indent="0" marL="0">
              <a:spcBef>
                <a:spcPts val="3000"/>
              </a:spcBef>
              <a:buNone/>
            </a:pPr>
            <a:r>
              <a:rPr b="1"/>
              <a:t>Framework Overview in Spanish</a:t>
            </a:r>
          </a:p>
          <a:p>
            <a:pPr lvl="0" indent="0" marL="0">
              <a:buNone/>
            </a:pPr>
            <a:r>
              <a:rPr/>
              <a:t>El Marco de Evaluación Rápida de AIPAM está diseñado para facilitar la integración eficiente de tecnologías de IA dentro de las organizaciones, evaluando su preparación y potencial para aplicaciones de IA. Este marco incluye tres fases clave que guían a las organizaciones a través de la alineación de estrategias y el descubrimiento de oportunidades.</a:t>
            </a:r>
          </a:p>
          <a:p>
            <a:pPr lvl="0" indent="0" marL="0">
              <a:spcBef>
                <a:spcPts val="3000"/>
              </a:spcBef>
              <a:buNone/>
            </a:pPr>
            <a:r>
              <a:rPr b="1"/>
              <a:t>Fase 1: Taller de Alineación Estratégica</a:t>
            </a:r>
          </a:p>
          <a:p>
            <a:pPr lvl="0"/>
            <a:r>
              <a:rPr b="1"/>
              <a:t>Estructura</a:t>
            </a:r>
            <a:r>
              <a:rPr/>
              <a:t>: Esta fase consiste en un taller de un día completo con partes interesadas de varios departamentos.</a:t>
            </a:r>
          </a:p>
          <a:p>
            <a:pPr lvl="0"/>
            <a:r>
              <a:rPr b="1"/>
              <a:t>Objetivos</a:t>
            </a:r>
            <a:r>
              <a:rPr/>
              <a:t>:</a:t>
            </a:r>
          </a:p>
          <a:p>
            <a:pPr lvl="1"/>
            <a:r>
              <a:rPr/>
              <a:t>Alinear los objetivos organizacionales con las capacidades de IA.</a:t>
            </a:r>
          </a:p>
          <a:p>
            <a:pPr lvl="1"/>
            <a:r>
              <a:rPr/>
              <a:t>Identificar a los interesados clave y campeones de la integración de IA.</a:t>
            </a:r>
          </a:p>
          <a:p>
            <a:pPr lvl="1"/>
            <a:r>
              <a:rPr/>
              <a:t>Establecer una visión clara del papel de la IA en la organización.</a:t>
            </a:r>
          </a:p>
          <a:p>
            <a:pPr lvl="0"/>
            <a:r>
              <a:rPr b="1"/>
              <a:t>Actividades</a:t>
            </a:r>
            <a:r>
              <a:rPr/>
              <a:t>:</a:t>
            </a:r>
          </a:p>
          <a:p>
            <a:pPr lvl="1"/>
            <a:r>
              <a:rPr/>
              <a:t>Presentar las tendencias del mercado actuales y las capacidades de IA.</a:t>
            </a:r>
          </a:p>
          <a:p>
            <a:pPr lvl="1"/>
            <a:r>
              <a:rPr/>
              <a:t>Realizar sesiones de lluvia de ideas para identificar aplicaciones de IA potenciales.</a:t>
            </a:r>
          </a:p>
          <a:p>
            <a:pPr lvl="1"/>
            <a:r>
              <a:rPr/>
              <a:t>Crear una hoja de ruta para la integración de IA alineada con los objetivos comerciales.</a:t>
            </a:r>
          </a:p>
          <a:p>
            <a:pPr lvl="0" indent="0" marL="0">
              <a:spcBef>
                <a:spcPts val="3000"/>
              </a:spcBef>
              <a:buNone/>
            </a:pPr>
            <a:r>
              <a:rPr b="1"/>
              <a:t>Fase 2: Descubrimiento de Aplicaciones Impulsadas por IA</a:t>
            </a:r>
          </a:p>
          <a:p>
            <a:pPr lvl="0"/>
            <a:r>
              <a:rPr b="1"/>
              <a:t>Estructura</a:t>
            </a:r>
            <a:r>
              <a:rPr/>
              <a:t>: Esta fase consiste en una serie de sesiones colaborativas con unidades de negocio.</a:t>
            </a:r>
          </a:p>
          <a:p>
            <a:pPr lvl="0"/>
            <a:r>
              <a:rPr b="1"/>
              <a:t>Objetivos</a:t>
            </a:r>
            <a:r>
              <a:rPr/>
              <a:t>:</a:t>
            </a:r>
          </a:p>
          <a:p>
            <a:pPr lvl="1"/>
            <a:r>
              <a:rPr/>
              <a:t>Identificar casos de uso específicos donde la IA pueda aportar el mayor valor.</a:t>
            </a:r>
          </a:p>
          <a:p>
            <a:pPr lvl="1"/>
            <a:r>
              <a:rPr/>
              <a:t>Evaluar la viabilidad de implementar soluciones de IA en las áreas identificadas.</a:t>
            </a:r>
          </a:p>
          <a:p>
            <a:pPr lvl="0"/>
            <a:r>
              <a:rPr b="1"/>
              <a:t>Actividades</a:t>
            </a:r>
            <a:r>
              <a:rPr/>
              <a:t>:</a:t>
            </a:r>
          </a:p>
          <a:p>
            <a:pPr lvl="1"/>
            <a:r>
              <a:rPr/>
              <a:t>Desarrollar plantillas de casos de uso para capturar la información necesaria.</a:t>
            </a:r>
          </a:p>
          <a:p>
            <a:pPr lvl="1"/>
            <a:r>
              <a:rPr/>
              <a:t>Realizar estudios de viabilidad para las aplicaciones de IA preseleccionadas.</a:t>
            </a:r>
          </a:p>
          <a:p>
            <a:pPr lvl="0" indent="0" marL="0">
              <a:spcBef>
                <a:spcPts val="3000"/>
              </a:spcBef>
              <a:buNone/>
            </a:pPr>
            <a:r>
              <a:rPr b="1"/>
              <a:t>Fase 3: Descubrimiento de Bases de Datos Impulsadas por IA</a:t>
            </a:r>
          </a:p>
          <a:p>
            <a:pPr lvl="0"/>
            <a:r>
              <a:rPr b="1"/>
              <a:t>Estructura</a:t>
            </a:r>
            <a:r>
              <a:rPr/>
              <a:t>: En esta fase, se realiza una auditoría técnica de las bases de datos existentes para evaluar la compatibilidad con las herramientas de IA.</a:t>
            </a:r>
          </a:p>
          <a:p>
            <a:pPr lvl="0"/>
            <a:r>
              <a:rPr b="1"/>
              <a:t>Objetivos</a:t>
            </a:r>
            <a:r>
              <a:rPr/>
              <a:t>:</a:t>
            </a:r>
          </a:p>
          <a:p>
            <a:pPr lvl="1"/>
            <a:r>
              <a:rPr/>
              <a:t>Determinar la calidad y usabilidad de los datos existentes.</a:t>
            </a:r>
          </a:p>
          <a:p>
            <a:pPr lvl="1"/>
            <a:r>
              <a:rPr/>
              <a:t>Identificar brechas de datos y mejoras necesarias.</a:t>
            </a:r>
          </a:p>
          <a:p>
            <a:pPr lvl="0"/>
            <a:r>
              <a:rPr b="1"/>
              <a:t>Actividades</a:t>
            </a:r>
            <a:r>
              <a:rPr/>
              <a:t>:</a:t>
            </a:r>
          </a:p>
          <a:p>
            <a:pPr lvl="1"/>
            <a:r>
              <a:rPr/>
              <a:t>Evaluar las bases de datos actuales y las prácticas de gestión de datos.</a:t>
            </a:r>
          </a:p>
          <a:p>
            <a:pPr lvl="1"/>
            <a:r>
              <a:rPr/>
              <a:t>Crear un plan para mejorar la calidad de los datos para estar listos para IA.</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2026-04-27T16:12:14Z</dcterms:created>
  <dcterms:modified xsi:type="dcterms:W3CDTF">2026-04-27T16:12:14Z</dcterms:modified>
</cp:coreProperties>
</file>

<file path=docProps/custom.xml><?xml version="1.0" encoding="utf-8"?>
<Properties xmlns="http://schemas.openxmlformats.org/officeDocument/2006/custom-properties" xmlns:vt="http://schemas.openxmlformats.org/officeDocument/2006/docPropsVTypes"/>
</file>